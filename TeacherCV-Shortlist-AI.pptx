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12134088" cy="6858000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TEACHERCV SHORTLIST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</a:rPr>
              <a:t>The Future of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5B4FC"/>
                </a:solidFill>
              </a:rPr>
              <a:t>Teacher Recruitment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</a:rPr>
              <a:t>is Here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AI-powered CV evaluation, CBSE compliance checking, intelligent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test generation &amp; automated shortlisting — built for Indian schools.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120640"/>
            <a:ext cx="1792224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51297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🇮🇳 CBSE Compliant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48840" y="512064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51297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🤖 Claude AI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512064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3632" y="51297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⚡ Next.js 16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32120" y="512064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272" y="51297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🦙 Llama 3.3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680960" y="182880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965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B4FC"/>
                </a:solidFill>
              </a:rPr>
              <a:t>Claude AI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5528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CV Evaluator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324612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3832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Llama 3.3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5528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 Generator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466344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4800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CBSE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955280" y="5303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Benchmarks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Hiring Teachers is </a:t>
            </a:r>
            <a:pPr indent="0" marL="0">
              <a:buNone/>
            </a:pPr>
            <a:r>
              <a:rPr lang="en-US" sz="3400" b="1" dirty="0">
                <a:solidFill>
                  <a:srgbClr val="FC9292"/>
                </a:solidFill>
              </a:rPr>
              <a:t>Broken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Indian schools waste months manually screening CVs — with no standardised evaluation or compliance checks.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2A10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97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Weeks of Manual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794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HR teams manually read 200+ CVs per position, checking qualifications by hand. Average 3 weeks per hire.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46888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2A1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697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No CBSE Compliance 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3794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Schools unknowingly hire teachers who lack NCTE/CBSE required qualifications, risking accreditation loss.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246888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1A0A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697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5820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Zero Competency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3794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Subject knowledge goes untested. A Math teacher's actual teaching ability is never evaluated before hiring.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"We needed something smarter. We built it."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End-to-End AI Recruitment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</a:rPr>
              <a:t>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1A254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5544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572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Post Position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30175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Auto-populate CBSE benchmarks by subject &amp; grade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2971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7480" y="169164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1A25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572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07208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Candidates Apply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07208" y="30175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Shareable link, CV upload (PDF/DOCX), CTC details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971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169164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1A25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5544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1572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1920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38928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Claude AI Evaluates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38928" y="30175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5-dimension scoring + CBSE compliance in seconds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78040" y="2971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60920" y="169164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1A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554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1572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1920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70648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AI Test Sent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70648" y="30175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Llama generates competency test, auto + AI graded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509760" y="2971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92640" y="1691640"/>
            <a:ext cx="2148840" cy="3200400"/>
          </a:xfrm>
          <a:prstGeom prst="roundRect">
            <a:avLst>
              <a:gd name="adj" fmla="val 5106"/>
            </a:avLst>
          </a:prstGeom>
          <a:solidFill>
            <a:srgbClr val="1A25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15600" y="1554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0" y="1572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378440" y="1920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802368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Shortlist &amp; Notify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02368" y="30175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Rank candidates, export PDF, send bulk emails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5120640"/>
            <a:ext cx="11430000" cy="1417320"/>
          </a:xfrm>
          <a:prstGeom prst="roundRect">
            <a:avLst>
              <a:gd name="adj" fmla="val 7742"/>
            </a:avLst>
          </a:prstGeom>
          <a:solidFill>
            <a:srgbClr val="1A254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</a:rPr>
              <a:t>Sample AI Output for a Candidate: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F5F9"/>
                </a:solidFill>
              </a:rPr>
              <a:t>Qualification 92/100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5806440"/>
            <a:ext cx="256032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5806440"/>
            <a:ext cx="2355494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F5F9"/>
                </a:solidFill>
              </a:rPr>
              <a:t>Experience 85/100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83280" y="5806440"/>
            <a:ext cx="256032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0" y="5806440"/>
            <a:ext cx="2176272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F5F9"/>
                </a:solidFill>
              </a:rPr>
              <a:t>Subject Mastery 96/100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17920" y="5806440"/>
            <a:ext cx="256032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5806440"/>
            <a:ext cx="2457907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52560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F5F9"/>
                </a:solidFill>
              </a:rPr>
              <a:t>Soft Skills 78/100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052560" y="5806440"/>
            <a:ext cx="256032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52560" y="5806440"/>
            <a:ext cx="199705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0" y="5257800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0" y="5257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</a:rPr>
              <a:t>⭐ STRONGLY RECOMMENDED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AI EVALUATION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Claude-Powered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</a:rPr>
              <a:t>CV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Every CV deep-analysed by Claude Sonnet 4.6 against CBSE norms — producing structured, explainable scores instantly.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A2540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5B4FC"/>
                </a:solidFill>
              </a:rPr>
              <a:t>35%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Qualification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B.Ed, CTET, PG degrees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0128" y="21945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A2540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8F9"/>
                </a:solidFill>
              </a:rPr>
              <a:t>25%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47288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47288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Years vs requirement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54496" y="21945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A25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FD"/>
                </a:solidFill>
              </a:rPr>
              <a:t>25%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91656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Subject Mastery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91656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Depth + curriculum match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98864" y="21945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2331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</a:rPr>
              <a:t>15%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36024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Soft Skills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36024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Certs, breadth, awards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5486400" cy="2606040"/>
          </a:xfrm>
          <a:prstGeom prst="roundRect">
            <a:avLst>
              <a:gd name="adj" fmla="val 4211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4-TIER RECOMMENDATION ENGINE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0D2E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40740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⭐ Strongly Recommended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440740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All benchmarks met, exceptional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873752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0A2030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9377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7E8F9"/>
                </a:solidFill>
              </a:rPr>
              <a:t>✓  Recommended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493776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Meets most requirements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404104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2A1E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46811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~  Consider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0" y="546811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Some gaps, may still be viable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5934456"/>
            <a:ext cx="5120640" cy="438912"/>
          </a:xfrm>
          <a:prstGeom prst="roundRect">
            <a:avLst>
              <a:gd name="adj" fmla="val 25000"/>
            </a:avLst>
          </a:prstGeom>
          <a:solidFill>
            <a:srgbClr val="2A0D0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99846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</a:rPr>
              <a:t>✗  Not Recommended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599846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Significant gaps, below benchmark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3840480"/>
            <a:ext cx="5669280" cy="2606040"/>
          </a:xfrm>
          <a:prstGeom prst="roundRect">
            <a:avLst>
              <a:gd name="adj" fmla="val 4211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AI MODELS USED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434340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95160" y="4480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Claude Sonnet 4.6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48280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Deep CV semantic analysis + CBSE context reasoning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241280" y="445312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1A208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0" y="4453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</a:rPr>
              <a:t>Primary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309360" y="553212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995160" y="5669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Claude Haiku 4.5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95160" y="60167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 structured CV data extraction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241280" y="5641848"/>
            <a:ext cx="1371600" cy="228600"/>
          </a:xfrm>
          <a:prstGeom prst="roundRect">
            <a:avLst>
              <a:gd name="adj" fmla="val 48000"/>
            </a:avLst>
          </a:prstGeom>
          <a:solidFill>
            <a:srgbClr val="1A208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0" y="5641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Extractor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✨ OUR UNIQUE FEATURE — AI TEST 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Teachers Tested by </a:t>
            </a:r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</a:rPr>
              <a:t>AI</a:t>
            </a:r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 Before Interview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Llama 3.3-70B generates CBSE curriculum-aligned competency tests on demand. No other platform does this for teachers in India.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F3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MCQ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2 marks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Auto-graded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0128" y="23774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F3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True / False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7288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1 mark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7288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Auto-graded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54496" y="23774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F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Short Answer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91656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3 marks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91656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graded + rubric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98864" y="23774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F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Long Answer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36024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5 marks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36024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graded + detail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11430000" cy="640080"/>
          </a:xfrm>
          <a:prstGeom prst="roundRect">
            <a:avLst>
              <a:gd name="adj" fmla="val 1714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160520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16966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🔗 Shareable Token Link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80360" y="4160520"/>
            <a:ext cx="1709928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53512" y="41696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⏱️ Countdown Timer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66360" y="416052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9512" y="41696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📊 AI Performance Summary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52360" y="4160520"/>
            <a:ext cx="1874520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41696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❓ Question Navigator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738360" y="4160520"/>
            <a:ext cx="2203704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11512" y="416966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✅ Auto-submit on Timeout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800600"/>
            <a:ext cx="11430000" cy="1828800"/>
          </a:xfrm>
          <a:prstGeom prst="roundRect">
            <a:avLst>
              <a:gd name="adj" fmla="val 6000"/>
            </a:avLst>
          </a:prstGeom>
          <a:solidFill>
            <a:srgbClr val="161F3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8920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5B4FC"/>
                </a:solidFill>
              </a:rPr>
              <a:t>SAMPLE AI-GENERATED QUESTION  (Mathematics • Sr. Secondary)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" y="5166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Q4 • MCQ • 2 Marks  |  A teacher wants to explain the concept of limits using the ε-δ definition to Class 12 students. Which pedagogical approach is most effective?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5669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A.  Start with formal definition immediately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" y="5989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B.  Use numerical sequences to build intuition first  ✓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5669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C.  Skip and focus on computational limits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5989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D.  Use only graphical methods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WHAT MAKES US DIFFERENT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10 Features No One Else Has Built </a:t>
            </a:r>
            <a:pPr indent="0" marL="0">
              <a:buNone/>
            </a:pPr>
            <a:r>
              <a:rPr lang="en-US" sz="2800" b="1" dirty="0">
                <a:solidFill>
                  <a:srgbClr val="A5B4FC"/>
                </a:solidFill>
              </a:rPr>
              <a:t>for India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8653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CBSE/NCTE Compliance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Hard verification: B.Ed, CTET, TET, subject-specific PG degrees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49240" y="1847088"/>
            <a:ext cx="594360" cy="228600"/>
          </a:xfrm>
          <a:prstGeom prst="round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856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4D399"/>
                </a:solidFill>
              </a:rPr>
              <a:t>🇮🇳 India-first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8653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AI Competency 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8660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Llama 3.3 generates teacher-level CBSE tests — unique in EdTech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292840" y="1847088"/>
            <a:ext cx="594360" cy="228600"/>
          </a:xfrm>
          <a:prstGeom prst="round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92840" y="1856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4D399"/>
                </a:solidFill>
              </a:rPr>
              <a:t>✨ Unique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Dual AI Architecture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5021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Claude Sonnet for analysis, Haiku for extraction, Llama for tests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999232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3127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AI Grading of Written Answers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35021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Short &amp; long answers graded by AI with per-question rubric feedback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61104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98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43000" y="4389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Side-by-Side CTC Comparison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47640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Compare 4 candidates: salary, budget fit, hike %, all score dims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4261104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398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86600" y="4389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Zero-Login Public Applications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47640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Shareable links — candidates apply &amp; take tests without accounts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5522976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660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43000" y="5650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Client-Side PDF Reports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" y="60258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Export shortlist reports with scores &amp; CTC — no server needed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5522976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5660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086600" y="5650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Batch Email Notifications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60258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One-click bulk email to all shortlisted candidates via Resend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FEATURE DEEP DIVE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Recruitment </a:t>
            </a:r>
            <a:pPr indent="0" marL="0">
              <a:buNone/>
            </a:pPr>
            <a:r>
              <a:rPr lang="en-US" sz="2800" b="1" dirty="0">
                <a:solidFill>
                  <a:srgbClr val="A5B4FC"/>
                </a:solidFill>
              </a:rPr>
              <a:t>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Complete pipeline visibility — CBSE compliance banner, stats, recommendation breakdown, quick actions.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1430000" cy="4709160"/>
          </a:xfrm>
          <a:prstGeom prst="roundRect">
            <a:avLst>
              <a:gd name="adj" fmla="val 2330"/>
            </a:avLst>
          </a:prstGeom>
          <a:solidFill>
            <a:srgbClr val="0A102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777240" cy="4709160"/>
          </a:xfrm>
          <a:prstGeom prst="rect">
            <a:avLst/>
          </a:prstGeom>
          <a:solidFill>
            <a:srgbClr val="060D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594360" cy="566928"/>
          </a:xfrm>
          <a:prstGeom prst="roundRect">
            <a:avLst>
              <a:gd name="adj" fmla="val 1290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59436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706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38144"/>
            <a:ext cx="59436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8386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151376"/>
            <a:ext cx="59436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9709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864608"/>
            <a:ext cx="59436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1032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577840"/>
            <a:ext cx="59436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6235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19659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Good morning, Delhi Public School 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3134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Here's your recruitment pipeline overview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25880" y="2651760"/>
            <a:ext cx="9921240" cy="384048"/>
          </a:xfrm>
          <a:prstGeom prst="roundRect">
            <a:avLst>
              <a:gd name="adj" fmla="val 28571"/>
            </a:avLst>
          </a:prstGeom>
          <a:solidFill>
            <a:srgbClr val="0D2E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724912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🏛️  CBSE Compliance Active  |  All evaluations checked against NCTE/CBSE norms  |  38/48 candidates compliant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25880" y="3172968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246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5B4FC"/>
                </a:solidFill>
              </a:rPr>
              <a:t>48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71600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Candidates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19272" y="3172968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246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</a:rPr>
              <a:t>12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64992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Positions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12664" y="3172968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8384" y="3246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73%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58384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Avg Score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06056" y="3172968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3246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51776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Shortlists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299448" y="3172968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5168" y="3246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B5FD"/>
                </a:solidFill>
              </a:rPr>
              <a:t>15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345168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Strongly Rec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325880" y="4160520"/>
            <a:ext cx="4754880" cy="2194560"/>
          </a:xfrm>
          <a:prstGeom prst="roundRect">
            <a:avLst>
              <a:gd name="adj" fmla="val 5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08760" y="42519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</a:rPr>
              <a:t>RECOMMENDATION BREAKDOWN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50876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Strongly Recommended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7764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15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34840" y="4681728"/>
            <a:ext cx="141732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34840" y="4681728"/>
            <a:ext cx="439369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08760" y="4983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Recommended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77640" y="4983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18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34840" y="5093208"/>
            <a:ext cx="141732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34840" y="5093208"/>
            <a:ext cx="538582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08760" y="5394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Consider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977640" y="5394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10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34840" y="5504688"/>
            <a:ext cx="141732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34840" y="5504688"/>
            <a:ext cx="297637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08760" y="5806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Not Recommended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77640" y="5806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434840" y="5916168"/>
            <a:ext cx="1417320" cy="822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34840" y="5916168"/>
            <a:ext cx="141732" cy="82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4160520"/>
            <a:ext cx="4892040" cy="2194560"/>
          </a:xfrm>
          <a:prstGeom prst="roundRect">
            <a:avLst>
              <a:gd name="adj" fmla="val 5000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4251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</a:rPr>
              <a:t>OPEN POSITIONS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492240" y="4617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Mathematics — Sr. Secondary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692640" y="4617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5B4FC"/>
                </a:solidFill>
              </a:rPr>
              <a:t>12 applicants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92240" y="5029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Physics — Secondary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692640" y="5029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E8F9"/>
                </a:solidFill>
              </a:rPr>
              <a:t>8 applicants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92240" y="5440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English — Upper Primary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92640" y="5440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15 applicants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92240" y="5852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Chemistry — Sr. Secondary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692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7 applicants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FEATURE DEEP DIVE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Candidate </a:t>
            </a:r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Comparison 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Compare up to 4 candidates side-by-side — all score dimensions, CTC analysis, CBSE compliance, and recommendations.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0"/>
            <a:ext cx="201168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221284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Criteria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1720" y="2194560"/>
            <a:ext cx="237744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22128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Priya Sharma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B.Ed+M.Sc+CTET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2194560"/>
            <a:ext cx="237744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22128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Ravi Kumar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B.Ed+B.Sc+CTET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086600" y="2194560"/>
            <a:ext cx="237744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9752" y="22128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Sunita Mehta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B.Ed+M.Sc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464040" y="2194560"/>
            <a:ext cx="2377440" cy="4572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37192" y="22128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Amit Gupta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</a:rPr>
              <a:t>B.Ed only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20116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066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Overall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1720" y="2651760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26974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D33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27066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92 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651760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7066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78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2651760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7066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81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64040" y="2651760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27066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65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182112"/>
            <a:ext cx="201168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369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Qualification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31720" y="3182112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7480" y="322783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D33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2369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95 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182112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2369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72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3182112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32369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85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464040" y="3182112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4040" y="32369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58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712464"/>
            <a:ext cx="20116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67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Experience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31720" y="3712464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31720" y="37673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88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712464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7673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75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86600" y="3712464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52360" y="3758184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D33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37673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92 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464040" y="3712464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64040" y="37673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70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4242816"/>
            <a:ext cx="201168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Subject Mastery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31720" y="4242816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97480" y="4288536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D33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4297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96 ★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09160" y="4242816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4297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82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086600" y="4242816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4297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78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464040" y="4242816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64040" y="4297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60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" y="4773168"/>
            <a:ext cx="20116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82803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CBSE Compliant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331720" y="4773168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31720" y="4828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✓ Yes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09160" y="4773168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4828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✓ Yes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86600" y="4773168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4828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BF24"/>
                </a:solidFill>
              </a:rPr>
              <a:t>~ Partial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64040" y="4773168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64040" y="4828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CA5A5"/>
                </a:solidFill>
              </a:rPr>
              <a:t>✗ No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" y="5303520"/>
            <a:ext cx="201168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" y="535838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Expected CTC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331720" y="5303520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31720" y="53583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₹8.5L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709160" y="5303520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74920" y="53492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D33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09160" y="53583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₹7.2L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086600" y="5303520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86600" y="53583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₹9.0L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464040" y="5303520"/>
            <a:ext cx="2377440" cy="502920"/>
          </a:xfrm>
          <a:prstGeom prst="rect">
            <a:avLst/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829800" y="534924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D33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464040" y="53583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₹6.5L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20040" y="5833872"/>
            <a:ext cx="20116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88873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Recommendation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331720" y="5833872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97480" y="587959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D33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31720" y="58887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⭐ Strongly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709160" y="5833872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09160" y="58887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✓ Recommended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7086600" y="5833872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86600" y="58887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</a:rPr>
              <a:t>✓ Recommended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9464040" y="5833872"/>
            <a:ext cx="2377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64040" y="58887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BF24"/>
                </a:solidFill>
              </a:rPr>
              <a:t>~ Consider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Enterprise-Grade </a:t>
            </a:r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61F35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⚛️  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30552"/>
            <a:ext cx="33832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Next.js 16.2.5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786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App Router + RSC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063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React 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558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Latest stable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TailwindCSS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133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Dark mode, animations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617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9103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Full type safety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0" y="169164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61F35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🗄️  Backend + 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130552"/>
            <a:ext cx="33832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Prisma ORM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5786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Type-safe queries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83480" y="3063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Neon PostgreSQL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3558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Serverless database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8348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PDF + DOCX Parse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133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CV extraction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83480" y="4617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Resend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49103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Transactional email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29600" y="169164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61F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🤖  AI + Infra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2130552"/>
            <a:ext cx="33832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91540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Claude Sonnet 4.6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15400" y="25786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Deep CV analysis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124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915400" y="3063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Claude Haiku 4.5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915400" y="33558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Fast extraction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1248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🦙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91540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Llama 3.3-70B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15400" y="4133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Test gen + grading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12480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▲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915400" y="4617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Vercel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915400" y="49103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Edge deployment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5852160"/>
            <a:ext cx="11430000" cy="777240"/>
          </a:xfrm>
          <a:prstGeom prst="roundRect">
            <a:avLst>
              <a:gd name="adj" fmla="val 14118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5989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ARCHITECTURE  →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920240" y="591616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0240" y="59436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7E8F9"/>
                </a:solidFill>
              </a:rPr>
              <a:t>School HR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67E8F9"/>
                </a:solidFill>
              </a:rPr>
              <a:t>(Admin)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91840" y="60807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→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520440" y="591616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0440" y="59436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Next.js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App Router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92040" y="60807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120640" y="591616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59436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Prisma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Neon PG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92240" y="60807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→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720840" y="591616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0840" y="59436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Claude 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Anthropic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092440" y="60807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→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321040" y="591616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21040" y="59436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</a:rPr>
              <a:t>Llama 3.3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</a:rPr>
              <a:t>Groq API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692640" y="60807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→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921240" y="591616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921240" y="59436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Resend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Email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10-Table </a:t>
            </a:r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Data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PostgreSQL on Neon with Prisma ORM — multi-tenancy, full recruitment lifecycle tracking.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103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2212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B4FC"/>
                </a:solidFill>
              </a:rPr>
              <a:t>Organization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" y="2532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15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email (unique)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positions, candidates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2103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212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</a:rPr>
              <a:t>Position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07208" y="2532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615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title, subject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34640" y="2962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gradeLevel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34640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budgetCtc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34640" y="36576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benchmark (CBSE)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74920" y="2103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2212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Candidate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84648" y="2532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615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name, email, phone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12080" y="2962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cvFileName, cvText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12080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currentCtc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12080" y="36576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expectedCtc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52360" y="2103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2212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CandidateEval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62088" y="2532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2615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overallScore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89520" y="2962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5 dimension scores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89520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meetsBenchmark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89520" y="36576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aiSummary, strengths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29800" y="2103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39528" y="2212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</a:rPr>
              <a:t>Shortlist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39528" y="2532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6960" y="2615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name, status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966960" y="2962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positionId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966960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ShortlistItem[]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389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4498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ShortlistItem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9768" y="4818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01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rank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5248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emailSent, emailSentAt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5596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notes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697480" y="4389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07208" y="4498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TestTemplate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07208" y="4818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0" y="4901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title, subject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834640" y="5248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shareToken (unique)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834640" y="5596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timeLimitMins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834640" y="59436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passingScore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074920" y="4389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84648" y="4498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B4FC"/>
                </a:solidFill>
              </a:rPr>
              <a:t>TestQuestion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184648" y="4818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0" y="4901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type (MCQ/etc.)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212080" y="5248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question, options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212080" y="5596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correctAnswer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12080" y="59436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marks, order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452360" y="4389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62088" y="4498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TestAttempt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62088" y="4818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89520" y="4901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teacherName/Email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589520" y="5248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percentage, passed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589520" y="5596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aiSummary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829800" y="4389120"/>
            <a:ext cx="2240280" cy="2057400"/>
          </a:xfrm>
          <a:prstGeom prst="roundRect">
            <a:avLst>
              <a:gd name="adj" fmla="val 5333"/>
            </a:avLst>
          </a:prstGeom>
          <a:solidFill>
            <a:srgbClr val="161F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39528" y="4498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TestResponse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939528" y="4818888"/>
            <a:ext cx="201168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966960" y="490118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answer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9966960" y="524865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score (nullable)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966960" y="5596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aiFeedback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PRODUCT PAGES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9 Powerful </a:t>
            </a:r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Pages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691640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856232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8745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8196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8379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286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Pipeline overview, CBSE banner, recommendation breakdown, quick 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856232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8745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18196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18379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Positions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2286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Create job posts with auto-populated CBSE benchmarks, shareable links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9912" y="1856232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187452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69680" y="18196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72600" y="18379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Candidates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39912" y="2286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Filter by position, view scores, re-evaluate, add to shortlist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319272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" y="3483864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50215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4472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17320" y="3465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Shortlists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" y="39136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Two-panel builder, ranked lists, batch email with tracking, PDF export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3319272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2272" y="3483864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2272" y="350215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4472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465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Reports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2272" y="39136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Analytics, searchable candidates, slide-over score breakdown panel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75320" y="3319272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9912" y="3483864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9912" y="350215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69680" y="34472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372600" y="3465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Compare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39912" y="39136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Side-by-side 4 candidates across all dimensions + CTC analysis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946904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" y="5111496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512978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14400" y="5074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417320" y="50932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Tests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4632" y="554126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Create AI-generated competency tests, manage templates, track attempts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97680" y="4946904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62272" y="5111496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62272" y="512978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5074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394960" y="50932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Apply (Public)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462272" y="554126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CV upload, drag-drop, instant AI evaluation on submit — no login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75320" y="4946904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16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39912" y="5111496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9912" y="512978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69680" y="5074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9372600" y="50932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Take Test (Public)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439912" y="554126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Token-based test, countdown timer, question navigator, AI grading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200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TEACHERCV SHORTLIST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9418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Hire the Best Teachers.
</a:t>
            </a:r>
            <a:pPr algn="ctr" indent="0" marL="0">
              <a:buNone/>
            </a:pPr>
            <a:r>
              <a:rPr lang="en-US" sz="3600" b="1" dirty="0">
                <a:solidFill>
                  <a:srgbClr val="A5B4FC"/>
                </a:solidFill>
              </a:rPr>
              <a:t>In Days, Not Months.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The only platform combining Claude AI evaluation, CBSE compliance verification,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Llama-powered competency testing &amp; intelligent shortlisting — built for Indian schools.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5B4FC"/>
                </a:solidFill>
              </a:rPr>
              <a:t>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37160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Models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Working Together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4904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5B4FC"/>
                </a:solidFill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904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Dimensions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5B4FC"/>
                </a:solidFill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2648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Question Types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AI-Generated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0392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5B4FC"/>
                </a:solidFill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0392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CBSE/NCTE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Compliant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5989320"/>
            <a:ext cx="1874520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5998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🧠 Claude Sonnet 4.6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23160" y="5989320"/>
            <a:ext cx="1545336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59984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🦙 Llama 3.3-70B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89120" y="5989320"/>
            <a:ext cx="1709928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59984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🏛️ CBSE Compliant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55080" y="598932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59984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▲ Next.js 16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321040" y="5989320"/>
            <a:ext cx="1709928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59984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🌊 Neon PostgreSQL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287000" y="5989320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0152" y="59984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5B4FC"/>
                </a:solidFill>
              </a:rPr>
              <a:t>🚀 Vercel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2026-05-21T18:23:48Z</dcterms:created>
  <dcterms:modified xsi:type="dcterms:W3CDTF">2026-05-21T18:23:48Z</dcterms:modified>
</cp:coreProperties>
</file>